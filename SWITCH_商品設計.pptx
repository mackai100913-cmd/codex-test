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配合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5562C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6E9179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3F6B4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1F2A24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ニュートロックスサン 250mg</c:v>
                </c:pt>
                <c:pt idx="1">
                  <c:v>ビタミンC（リポソーム）200mg</c:v>
                </c:pt>
                <c:pt idx="2">
                  <c:v>BJ抽出物 150mg</c:v>
                </c:pt>
                <c:pt idx="3">
                  <c:v>亜鉛・B6・D 約20mg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250</c:v>
                </c:pt>
                <c:pt idx="1">
                  <c:v>200</c:v>
                </c:pt>
                <c:pt idx="2">
                  <c:v>150</c:v>
                </c:pt>
                <c:pt idx="3">
                  <c:v>20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A24"/>
              </a:solidFill>
              <a:latin typeface="Meiryo"/>
              <a:cs typeface="Meiry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SWITCHの商品設計プレゼン。全リサーチ(Track-A〜I)を収束させた第1弾プロダクト。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3視点フレーム（論文・リサーチドリブン・5WHY）で導いた本質インサイト。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壁を隠さず、解き方を設計の中心に据えたことが差別化になっている。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疾病表現の禁止を逆手に取り、引き算の訴求へ転換した。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最大の突破口。物理的制約が、むしろコンセプトを研ぎ澄ませた。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3つ目の壁も、設計上の優位に転換した。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関与成分は2つ。残りは栄養機能表示と配合成分で構成する。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全広告はこの表に従って法務チェックを通す。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サプリ業界の常識からは出てこない組み合わせ。ここが模倣されにくさの源泉。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Apple流の1画面1ジョブ。ホームには今日の1タップ以外を置かない。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価格は暫定。P0の見積もり結果で最終確定する。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P2の届出準備が最長。P0の見積もりを最優先で走らせる。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リスクは重大度順。P0の1番目が全体の意思決定を左右する。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クロージング。競合が構造上まねできない理由を最後に置く。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3F6B4E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3291840"/>
            <a:ext cx="3291840" cy="3291840"/>
          </a:xfrm>
          <a:prstGeom prst="ellipse">
            <a:avLst/>
          </a:prstGeom>
          <a:solidFill>
            <a:srgbClr val="B5562C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6E91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機能性D2Cサプリ ／ 第1弾プロダクト 商品設計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810512"/>
            <a:ext cx="7863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66928" y="3255264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食べたものを、効かせる。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66928" y="4041648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6E91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タンパク質を足さずに、食べたものを効かせる。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6E91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だから肌も荒れず、老化も加速させない。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5897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北極星：若さを保つ（見た目＋中身）　／　2026-07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誰の、何を解くのか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過酷な努力に挫折した「ライトな筋トレ・美容先行投資層」20〜40代 男女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27664" cy="1298448"/>
          </a:xfrm>
          <a:prstGeom prst="roundRect">
            <a:avLst>
              <a:gd name="adj" fmla="val 5634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2221992"/>
            <a:ext cx="420624" cy="420624"/>
          </a:xfrm>
          <a:prstGeom prst="ellipse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221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81328" y="19293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6B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①論文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10128" y="1929384"/>
            <a:ext cx="7918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筋トレ継続動機の因子分析（日本健康教育学会誌 2019）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継続理由の上位は 体力向上4.02・体型維持3.98・健康3.90。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「モテたい（外観）」は主動機ではない。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227832"/>
            <a:ext cx="11027664" cy="1298448"/>
          </a:xfrm>
          <a:prstGeom prst="roundRect">
            <a:avLst>
              <a:gd name="adj" fmla="val 5634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3666744"/>
            <a:ext cx="420624" cy="420624"/>
          </a:xfrm>
          <a:prstGeom prst="ellipse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81328" y="33741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6B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②リサーチ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10128" y="3374136"/>
            <a:ext cx="7918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男性美容の動機は加点（モテ）でなく減点回避（清潔感）。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Z世代男性の美容関心71.9%に対し実践は34%。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関心と実践のギャップこそ最大の商機。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4672584"/>
            <a:ext cx="11027664" cy="1298448"/>
          </a:xfrm>
          <a:prstGeom prst="roundRect">
            <a:avLst>
              <a:gd name="adj" fmla="val 5634"/>
            </a:avLst>
          </a:prstGeom>
          <a:solidFill>
            <a:srgbClr val="FBF3EE"/>
          </a:solidFill>
          <a:ln w="12700">
            <a:solidFill>
              <a:srgbClr val="FBF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" y="5111496"/>
            <a:ext cx="420624" cy="420624"/>
          </a:xfrm>
          <a:prstGeom prst="ellipse">
            <a:avLst/>
          </a:prstGeom>
          <a:solidFill>
            <a:srgbClr val="B5562C"/>
          </a:solidFill>
          <a:ln w="12700">
            <a:solidFill>
              <a:srgbClr val="B556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5111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81328" y="48188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5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③5WHY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10128" y="4818888"/>
            <a:ext cx="7918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なぜ飲む→維持したい→衰えたくない→"老けた"判定が怖い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→老化は不可抗力→自分で打てる介入に価値が集中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真因：老化に能動的に手を打てている感覚に金を払う。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614476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 この商品が売るのは「筋肉」でも「肌」でもなく、コントロールできているという感覚。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商品化を阻んだ「3つの壁」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当初構想のままでは実現不可能だった。この3つをどう解いたかが、そのまま設計になっている。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584448" cy="3977640"/>
          </a:xfrm>
          <a:prstGeom prst="roundRect">
            <a:avLst>
              <a:gd name="adj" fmla="val 2041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993392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5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壁 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9536" y="2359152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ニキビ予防は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言えない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59536" y="3401568"/>
            <a:ext cx="3035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ニキビは皮膚疾患。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機能性表示食品は疾病の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予防・治療を暗示する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表現が禁止されている。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9536" y="5230368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消費者庁ガイドライン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35424" y="1783080"/>
            <a:ext cx="3584448" cy="3977640"/>
          </a:xfrm>
          <a:prstGeom prst="roundRect">
            <a:avLst>
              <a:gd name="adj" fmla="val 2041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1993392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5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壁 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28032" y="2359152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極小粒に筋肉成分は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入らない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828032" y="3401568"/>
            <a:ext cx="3035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1,000mg超でカプセル3〜4粒。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ロイシン2.5g / HMB3g /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クレアチン3g / コラーゲン5g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物理的に1つも入らない。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28032" y="5230368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OEM各社ヒアリング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03920" y="1783080"/>
            <a:ext cx="3584448" cy="3977640"/>
          </a:xfrm>
          <a:prstGeom prst="roundRect">
            <a:avLst>
              <a:gd name="adj" fmla="val 2041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1993392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5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壁 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96528" y="2359152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筋肉と抗老化が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矛盾する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796528" y="3401568"/>
            <a:ext cx="3035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ロイシンはmTORを活性化し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筋肉を作る。しかしmTORの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慢性活性化は老化を早める。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同じ経路が善であり悪。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96528" y="5230368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Nature ダイジェスト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605332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6B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この3つを正面から解いた結果、コンセプトが一本に定まった。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475488" cy="475488"/>
          </a:xfrm>
          <a:prstGeom prst="ellipse">
            <a:avLst/>
          </a:prstGeom>
          <a:solidFill>
            <a:srgbClr val="B5562C"/>
          </a:solidFill>
          <a:ln w="12700">
            <a:solidFill>
              <a:srgbClr val="B556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10314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言えない言葉を、強みに変える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壁① ニキビ予防は法規上まったく言えない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BF3EE"/>
          </a:solidFill>
          <a:ln w="12700">
            <a:solidFill>
              <a:srgbClr val="FBF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97510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5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法的な着地点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2340864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亜鉛・ビタミンB6 の栄養機能表示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「皮膚や粘膜の健康維持を助ける栄養素です」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定型文として合法的に言える。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37376" y="178308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48272" y="197510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6B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さらに強い、引き算の訴求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48272" y="2340864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「粉を飲まないから、そもそも荒れない」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プロテインの大量摂取で肌が荒れた層に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直接刺さる、構造的な優位。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913632"/>
            <a:ext cx="11027664" cy="1783080"/>
          </a:xfrm>
          <a:prstGeom prst="roundRect">
            <a:avLst>
              <a:gd name="adj" fmla="val 4103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4114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なぜ競合はまねできないのか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96112" y="4553712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プロテイン・EAA企業は「量を売る」ビジネスモデル。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したがって「量を減らす」提案は、自社の売上構造そのものの否定になる。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引き算の訴求は、後発の大手ほど追随しにくい。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66928" y="598932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  ニキビが治る・防ぐ　　　○  皮膚や粘膜の健康維持を助ける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475488" cy="475488"/>
          </a:xfrm>
          <a:prstGeom prst="ellipse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10314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足さずに、効かせる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壁② 極小タブレットに筋肉の材料は物理的に入らない　→　発想を反転させた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074920" cy="2286000"/>
          </a:xfrm>
          <a:prstGeom prst="roundRect">
            <a:avLst>
              <a:gd name="adj" fmla="val 3200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95681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従来の発想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9536" y="23042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材料を供給する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59536" y="2816352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ロイシン2.5g / HMB3g / クレアチン3g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粉をがぶ飲みするしかない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肌荒れ・お腹の不調・面倒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779008" y="2670048"/>
            <a:ext cx="658368" cy="475488"/>
          </a:xfrm>
          <a:prstGeom prst="rightArrow">
            <a:avLst/>
          </a:prstGeom>
          <a:solidFill>
            <a:srgbClr val="B55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783080"/>
            <a:ext cx="5056632" cy="2286000"/>
          </a:xfrm>
          <a:prstGeom prst="roundRect">
            <a:avLst>
              <a:gd name="adj" fmla="val 3200"/>
            </a:avLst>
          </a:prstGeom>
          <a:solidFill>
            <a:srgbClr val="FBF3EE"/>
          </a:solidFill>
          <a:ln w="12700">
            <a:solidFill>
              <a:srgbClr val="FBF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30568" y="195681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5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SWITCH の発想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30568" y="23042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食べた材料を効かせる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30568" y="2816352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ビタミンD・B6・亜鉛はすべてmg・μg単位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小粒2粒に収まる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制約と価値提案が完全に一致した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315968"/>
            <a:ext cx="3584448" cy="1389888"/>
          </a:xfrm>
          <a:prstGeom prst="roundRect">
            <a:avLst>
              <a:gd name="adj" fmla="val 5263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480560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6B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ビタミンD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4828032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mTOR（筋タンパク合成のスイッチ）を活性化し、食事のタンパク質が効きやすい体にする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35424" y="4315968"/>
            <a:ext cx="3584448" cy="1389888"/>
          </a:xfrm>
          <a:prstGeom prst="roundRect">
            <a:avLst>
              <a:gd name="adj" fmla="val 5263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4480560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6B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ビタミンB6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9744" y="4828032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アミノ酸代謝に必須。食べたタンパク質を使える形に回す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503920" y="4315968"/>
            <a:ext cx="3584448" cy="1389888"/>
          </a:xfrm>
          <a:prstGeom prst="roundRect">
            <a:avLst>
              <a:gd name="adj" fmla="val 5263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0" y="4480560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6B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亜鉛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78240" y="4828032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タンパク質合成に関与。あわせて皮膚の健康維持も担う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598932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これは発注者が最初に語っていたコア価値「飲むだけで質の良い食事に変わる」そのものだった。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475488" cy="475488"/>
          </a:xfrm>
          <a:prstGeom prst="ellipse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10314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アクセルを踏み続けない、という優位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壁③ ロイシン（mTORのアクセル）と抗老化（mTORのブレーキ）は同じ経路で矛盾する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11027664" cy="1481328"/>
          </a:xfrm>
          <a:prstGeom prst="roundRect">
            <a:avLst>
              <a:gd name="adj" fmla="val 4938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956816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矛盾の正体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230428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ロイシンは mTORC1 を活性化して筋タンパク合成を促す（アクセル）。一方で mTOR の慢性活性化は老化を早めるとされ、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タンパク質・BCAA の制限はむしろ寿命を延ばしうる。つまり同じスイッチが、筋肉には善・長寿には悪として働く。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3493008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367588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既存のプロテイン / EAA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9536" y="404164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大量のアミノ酸を常時流し込む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mTOR のアクセルを踏みっぱなし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抗老化の観点では不利になりうる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91656" y="3493008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BF3EE"/>
          </a:solidFill>
          <a:ln w="12700">
            <a:solidFill>
              <a:srgbClr val="FBF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84264" y="367588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5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84264" y="404164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アミノ酸を供給しない設計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そもそも mTOR を踏み続けない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食事が入ったときだけ効率を上げる（間欠的）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598932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 これは偶然ではなく、この商品の抗老化上の優位性である。「増やす」ではなく「賢く使い分ける」。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処方設計 ─ 1日2粒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有効成分 合計 約620mg。賦形剤込みで 1粒400mg × 2粒 に収まる。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4572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40680" y="1783080"/>
            <a:ext cx="6172200" cy="621792"/>
          </a:xfrm>
          <a:prstGeom prst="roundRect">
            <a:avLst>
              <a:gd name="adj" fmla="val 11765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50992" y="18288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ブラックジンジャー由来PMF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50992" y="210312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55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機能性関与成分 ①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092440" y="181965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5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12mg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887968" y="181965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脂肪の消費・脚の筋肉の維持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40680" y="2478024"/>
            <a:ext cx="6172200" cy="621792"/>
          </a:xfrm>
          <a:prstGeom prst="roundRect">
            <a:avLst>
              <a:gd name="adj" fmla="val 11765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50992" y="252374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ニュートロックスサン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650992" y="279806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55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機能性関与成分 ②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092440" y="25146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5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250mg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887968" y="25146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紫外線で生じる活性酸素から肌を守る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40680" y="3172968"/>
            <a:ext cx="6172200" cy="621792"/>
          </a:xfrm>
          <a:prstGeom prst="roundRect">
            <a:avLst>
              <a:gd name="adj" fmla="val 11765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50992" y="32186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亜鉛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650992" y="349300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6B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栄養機能表示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092440" y="320954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887968" y="320954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皮膚の健康維持・タンパク質合成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40680" y="3867912"/>
            <a:ext cx="6172200" cy="621792"/>
          </a:xfrm>
          <a:prstGeom prst="roundRect">
            <a:avLst>
              <a:gd name="adj" fmla="val 11765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50992" y="39136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ビタミンB6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650992" y="418795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6B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栄養機能表示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092440" y="39044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1.4mg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887968" y="39044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皮膚の健康維持・アミノ酸代謝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40680" y="4562856"/>
            <a:ext cx="6172200" cy="621792"/>
          </a:xfrm>
          <a:prstGeom prst="roundRect">
            <a:avLst>
              <a:gd name="adj" fmla="val 11765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50992" y="460857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ビタミンD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650992" y="488289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6B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栄養機能表示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8092440" y="459943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25μg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887968" y="45994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mTOR活性化＝食事タンパクを効かせる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440680" y="5257800"/>
            <a:ext cx="6172200" cy="621792"/>
          </a:xfrm>
          <a:prstGeom prst="roundRect">
            <a:avLst>
              <a:gd name="adj" fmla="val 11765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50992" y="53035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ビタミンC（リポソーム化）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650992" y="557784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配合成分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8092440" y="529437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200mg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887968" y="529437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コラーゲン生成・抗酸化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66928" y="605332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6B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量が必要な成分（アミノ酸類）を意図的に外した。入っているのは「スイッチ」と「盾」だけ。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言える言葉と、言えない言葉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薬機法・景表法リスクを制作前に封じる。この表を社内ルールとして配布する。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FBF3EE"/>
          </a:solidFill>
          <a:ln w="12700">
            <a:solidFill>
              <a:srgbClr val="FBF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97510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55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  使ってはいけない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77824" y="2487168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ニキビが治る / ニキビを防ぐ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筋肉が増える / バルクアップする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日焼けしない / SPF・紫外線をブロック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痩せる / ダイエットできる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疾病の予防・治療を暗示するすべての表現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91656" y="178308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02552" y="197510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6B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  使ってよい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02552" y="2487168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皮膚や粘膜の健康維持を助ける（亜鉛・B6）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脚の筋肉の維持（BJ由来PMF）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日常活動時のエネルギー代謝で脂肪を消費しやすくする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紫外線刺激から肌を守る（要・届出DB照合）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塗る日焼け止めの「代替」ではなく「補完」と明記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598932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誠実さを、信頼の堀にする。紅麹以降の市場では透明性そのものが競争優位になる。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売り方は、他業界から借りる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サプリ競合は無視。遠い業界の顧客ハック構造だけを5つ転用した。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27664" cy="731520"/>
          </a:xfrm>
          <a:prstGeom prst="roundRect">
            <a:avLst>
              <a:gd name="adj" fmla="val 10000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81965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3F6B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Duolingo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081528" y="181965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月7,400万人の約70%が1週間以上ストリークを維持。継続＝資産、フリーズ＝保険。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967728" y="2039112"/>
            <a:ext cx="274320" cy="219456"/>
          </a:xfrm>
          <a:prstGeom prst="rightArrow">
            <a:avLst/>
          </a:prstGeom>
          <a:solidFill>
            <a:srgbClr val="3F6B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0" y="181965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飲んだら1タップ。連続記録が伸びアバターが育つ。月2回のフリーズで責めずに戻す。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560320"/>
            <a:ext cx="11027664" cy="731520"/>
          </a:xfrm>
          <a:prstGeom prst="roundRect">
            <a:avLst>
              <a:gd name="adj" fmla="val 10000"/>
            </a:avLst>
          </a:prstGeom>
          <a:solidFill>
            <a:srgbClr val="FBF3EE"/>
          </a:solidFill>
          <a:ln w="12700">
            <a:solidFill>
              <a:srgbClr val="FBF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59689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B55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ボトルキープ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081528" y="259689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名入れボトルを店に預ける＝置き資産と再来店予約を同時に作る。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67728" y="2816352"/>
            <a:ext cx="274320" cy="219456"/>
          </a:xfrm>
          <a:prstGeom prst="rightArrow">
            <a:avLst/>
          </a:prstGeom>
          <a:solidFill>
            <a:srgbClr val="B55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259689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初回に名入れ「マイ・キープ缶」。以降はリフィルのみ。解約＝自分の缶を空にする痛み。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337560"/>
            <a:ext cx="11027664" cy="731520"/>
          </a:xfrm>
          <a:prstGeom prst="roundRect">
            <a:avLst>
              <a:gd name="adj" fmla="val 10000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37413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3F6B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オイシックス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081528" y="337413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ハイタッチ対応は支援でなく伴走。入口で小さな成功体験を刻む。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67728" y="3593592"/>
            <a:ext cx="274320" cy="219456"/>
          </a:xfrm>
          <a:prstGeom prst="rightArrow">
            <a:avLst/>
          </a:prstGeom>
          <a:solidFill>
            <a:srgbClr val="3F6B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337413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「食事制限しなくて大丈夫。あなたの“まあいっか”を栄養で埋めます」と免罪符を配る。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4114800"/>
            <a:ext cx="11027664" cy="731520"/>
          </a:xfrm>
          <a:prstGeom prst="roundRect">
            <a:avLst>
              <a:gd name="adj" fmla="val 10000"/>
            </a:avLst>
          </a:prstGeom>
          <a:solidFill>
            <a:srgbClr val="FBF3EE"/>
          </a:solidFill>
          <a:ln w="12700">
            <a:solidFill>
              <a:srgbClr val="FBF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415137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B55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Calm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081528" y="415137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儀式化＋履歴の可視化。年6,500円〜終身42,900円の情緒課金。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967728" y="4370832"/>
            <a:ext cx="274320" cy="219456"/>
          </a:xfrm>
          <a:prstGeom prst="rightArrow">
            <a:avLst/>
          </a:prstGeom>
          <a:solidFill>
            <a:srgbClr val="B55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415137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飲む行為を3秒の朝の儀式に。「2ヶ月で体は変わる。今日はその1日目」＋積立プラン。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4892040"/>
            <a:ext cx="11027664" cy="731520"/>
          </a:xfrm>
          <a:prstGeom prst="roundRect">
            <a:avLst>
              <a:gd name="adj" fmla="val 10000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492861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3F6B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マクドナルド × 松下 × 資生堂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081528" y="492861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料理を標準化製造に再定義。新概念は対面教育網で普及させる。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67728" y="5148072"/>
            <a:ext cx="274320" cy="219456"/>
          </a:xfrm>
          <a:prstGeom prst="rightArrow">
            <a:avLst/>
          </a:prstGeom>
          <a:solidFill>
            <a:srgbClr val="3F6B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492861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毎日1タップ3秒のミッションに標準化。新概念は指名制アドバイザーのLINE伴走で教育。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6928" y="598932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 この商品は「サプリ」ではなく、3秒で完了する“若さの積立”デイリーミッション＋指名制の伴走。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顧客体験は、3秒で終わる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タイパ至上の層は、効果より前に「面倒くささ」で脱落する。だから考える余地を消す。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84832"/>
            <a:ext cx="457200" cy="457200"/>
          </a:xfrm>
          <a:prstGeom prst="ellipse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35608" y="20848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69748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洗面台の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自分の名前入りの缶が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目に入る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27832" y="2788920"/>
            <a:ext cx="274320" cy="256032"/>
          </a:xfrm>
          <a:prstGeom prst="rightArrow">
            <a:avLst/>
          </a:prstGeom>
          <a:solidFill>
            <a:srgbClr val="6E91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57016" y="187452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31336" y="2084832"/>
            <a:ext cx="457200" cy="457200"/>
          </a:xfrm>
          <a:prstGeom prst="ellipse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31336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25696" y="20848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飲む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31336" y="269748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2粒を水で。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粉を溶かす手間はゼロ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788920"/>
            <a:ext cx="274320" cy="256032"/>
          </a:xfrm>
          <a:prstGeom prst="rightArrow">
            <a:avLst/>
          </a:prstGeom>
          <a:solidFill>
            <a:srgbClr val="6E91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47104" y="187452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21424" y="2084832"/>
            <a:ext cx="457200" cy="457200"/>
          </a:xfrm>
          <a:prstGeom prst="ellipse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21424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15784" y="20848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1タップ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21424" y="269748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スマホで記録。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これがデイリーミッション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08008" y="2788920"/>
            <a:ext cx="274320" cy="256032"/>
          </a:xfrm>
          <a:prstGeom prst="rightArrow">
            <a:avLst/>
          </a:prstGeom>
          <a:solidFill>
            <a:srgbClr val="6E91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37192" y="187452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11512" y="2084832"/>
            <a:ext cx="457200" cy="457200"/>
          </a:xfrm>
          <a:prstGeom prst="ellipse">
            <a:avLst/>
          </a:prstGeom>
          <a:solidFill>
            <a:srgbClr val="B5562C"/>
          </a:solidFill>
          <a:ln w="12700">
            <a:solidFill>
              <a:srgbClr val="B556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1151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405872" y="20848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育つ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811512" y="269748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アバターが成長し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「7日連続。積み上がっています」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4315968"/>
            <a:ext cx="11027664" cy="1371600"/>
          </a:xfrm>
          <a:prstGeom prst="roundRect">
            <a:avLst>
              <a:gd name="adj" fmla="val 5333"/>
            </a:avLst>
          </a:prstGeom>
          <a:solidFill>
            <a:srgbClr val="FBF3EE"/>
          </a:solidFill>
          <a:ln w="12700">
            <a:solidFill>
              <a:srgbClr val="FBF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448056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声のかけ方（トーン＆マナー）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96112" y="48463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初回：「食事制限は、しなくて大丈夫です」　／　飲み忘れ：「おかえりなさい。今日から、また積み上げましょう」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効果を聞かれたら：「2ヶ月で体は変わります。今日はその◯日目です」　／　訴求：「モテる体に」ではなく「自分で管理できている、という感覚を」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" y="598932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6B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責める表現は一切使わない。数値は2階層目に隠し、トップは「今日やったか」だけを見せる。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価格とユニットエコノミクス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初期ハードルを下げてLTVを取る。主力は3ヶ月コース。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057400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6B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2441448"/>
            <a:ext cx="2221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¥2,480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04672" y="3172968"/>
            <a:ext cx="2221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＋名入れキープ缶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心理的・金銭的ハードルを下げる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20440" y="17373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BF3EE"/>
          </a:solidFill>
          <a:ln w="12700">
            <a:solidFill>
              <a:srgbClr val="FBF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58184" y="1920240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5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3ヶ月コース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58184" y="2304288"/>
            <a:ext cx="2221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¥13,440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758184" y="3035808"/>
            <a:ext cx="2221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月あたり¥4,480 ／ 主力プラン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3ヶ月まとめでLTV約1.5倍の事例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73952" y="187452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11696" y="2057400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6B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通常（月額）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11696" y="2441448"/>
            <a:ext cx="2221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¥4,980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11696" y="3172968"/>
            <a:ext cx="2221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1日あたり約166円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427464" y="187452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65208" y="2057400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6B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年間プラン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65208" y="2441448"/>
            <a:ext cx="2221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¥49,800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665208" y="3172968"/>
            <a:ext cx="2221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「若さの積立」情緒コミット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4434840"/>
            <a:ext cx="3584448" cy="1280160"/>
          </a:xfrm>
          <a:prstGeom prst="roundRect">
            <a:avLst>
              <a:gd name="adj" fmla="val 5714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57200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月次解約率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1248" y="4864608"/>
            <a:ext cx="3035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3%以下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41248" y="534924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D2C定期の理想水準（標準3〜5%）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35424" y="4434840"/>
            <a:ext cx="3584448" cy="1280160"/>
          </a:xfrm>
          <a:prstGeom prst="roundRect">
            <a:avLst>
              <a:gd name="adj" fmla="val 5714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457200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原価率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09744" y="4864608"/>
            <a:ext cx="3035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30%以下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809744" y="534924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事業条件。成否はほぼ原料単価で決まる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503920" y="4434840"/>
            <a:ext cx="3584448" cy="1280160"/>
          </a:xfrm>
          <a:prstGeom prst="roundRect">
            <a:avLst>
              <a:gd name="adj" fmla="val 5714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0" y="457200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獲得目標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778240" y="4864608"/>
            <a:ext cx="3035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月1,000件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8778240" y="534924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CPA ¥10,000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598932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　原価率30%の成否は、ほぼニュートロックスサンの単価で決まる。最初に潰すべき唯一の未知数。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ローンチまで 6〜8ヶ月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届出は販売の60営業日前までに提出する必要がある。ここが全体のクリティカルパス。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27664" cy="566928"/>
          </a:xfrm>
          <a:prstGeom prst="roundRect">
            <a:avLst>
              <a:gd name="adj" fmla="val 12903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901952"/>
            <a:ext cx="329184" cy="329184"/>
          </a:xfrm>
          <a:prstGeom prst="ellipse">
            <a:avLst/>
          </a:prstGeom>
          <a:solidFill>
            <a:srgbClr val="3F6B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901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280160" y="18379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見積もり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93008" y="18379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6B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〜2週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138928" y="183794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原料3社・OEM3社へ依頼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423160"/>
            <a:ext cx="11027664" cy="566928"/>
          </a:xfrm>
          <a:prstGeom prst="roundRect">
            <a:avLst>
              <a:gd name="adj" fmla="val 12903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2542032"/>
            <a:ext cx="329184" cy="329184"/>
          </a:xfrm>
          <a:prstGeom prst="ellipse">
            <a:avLst/>
          </a:prstGeom>
          <a:solidFill>
            <a:srgbClr val="3F6B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280160" y="24780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処方確定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93008" y="247802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6B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〜1.5ヶ月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138928" y="247802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配合量・粒サイズ・リポソーム可否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063240"/>
            <a:ext cx="11027664" cy="566928"/>
          </a:xfrm>
          <a:prstGeom prst="roundRect">
            <a:avLst>
              <a:gd name="adj" fmla="val 12903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" y="3182112"/>
            <a:ext cx="329184" cy="329184"/>
          </a:xfrm>
          <a:prstGeom prst="ellipse">
            <a:avLst/>
          </a:prstGeom>
          <a:solidFill>
            <a:srgbClr val="3F6B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3182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280160" y="31181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届出準備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93008" y="31181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6B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〜4ヶ月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138928" y="311810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SR収集・書類作成・提出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3703320"/>
            <a:ext cx="11027664" cy="566928"/>
          </a:xfrm>
          <a:prstGeom prst="roundRect">
            <a:avLst>
              <a:gd name="adj" fmla="val 12903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" y="3822192"/>
            <a:ext cx="329184" cy="329184"/>
          </a:xfrm>
          <a:prstGeom prst="ellipse">
            <a:avLst/>
          </a:prstGeom>
          <a:solidFill>
            <a:srgbClr val="3F6B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280160" y="37581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試作・官能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493008" y="375818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6B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並行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138928" y="375818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モニター20名でNGゼロ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4343400"/>
            <a:ext cx="11027664" cy="566928"/>
          </a:xfrm>
          <a:prstGeom prst="roundRect">
            <a:avLst>
              <a:gd name="adj" fmla="val 12903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" y="4462272"/>
            <a:ext cx="329184" cy="329184"/>
          </a:xfrm>
          <a:prstGeom prst="ellipse">
            <a:avLst/>
          </a:prstGeom>
          <a:solidFill>
            <a:srgbClr val="3F6B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" y="4462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280160" y="43982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 / LINE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493008" y="439826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6B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並行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138928" y="439826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ストリーク・1タップ・免罪符配信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6928" y="4983480"/>
            <a:ext cx="11027664" cy="566928"/>
          </a:xfrm>
          <a:prstGeom prst="roundRect">
            <a:avLst>
              <a:gd name="adj" fmla="val 12903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6384" y="5102352"/>
            <a:ext cx="329184" cy="329184"/>
          </a:xfrm>
          <a:prstGeom prst="ellipse">
            <a:avLst/>
          </a:prstGeom>
          <a:solidFill>
            <a:srgbClr val="3F6B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" y="5102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280160" y="50383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パッケージ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493008" y="50383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6B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〜5ヶ月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138928" y="503834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名入れキープ缶＋リフィル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928" y="5623560"/>
            <a:ext cx="11027664" cy="566928"/>
          </a:xfrm>
          <a:prstGeom prst="roundRect">
            <a:avLst>
              <a:gd name="adj" fmla="val 12903"/>
            </a:avLst>
          </a:prstGeom>
          <a:solidFill>
            <a:srgbClr val="FBF3EE"/>
          </a:solidFill>
          <a:ln w="12700">
            <a:solidFill>
              <a:srgbClr val="FBF3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6384" y="5742432"/>
            <a:ext cx="329184" cy="329184"/>
          </a:xfrm>
          <a:prstGeom prst="ellipse">
            <a:avLst/>
          </a:prstGeom>
          <a:solidFill>
            <a:srgbClr val="B55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6384" y="5742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280160" y="56784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ローンチ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493008" y="567842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5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6〜8ヶ月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138928" y="567842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初回¥2,480で獲得開始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リスクと、いま打つ手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280160"/>
            <a:ext cx="5669280" cy="4434840"/>
          </a:xfrm>
          <a:prstGeom prst="roundRect">
            <a:avLst>
              <a:gd name="adj" fmla="val 1649"/>
            </a:avLst>
          </a:prstGeom>
          <a:solidFill>
            <a:srgbClr val="F1F4F1"/>
          </a:solidFill>
          <a:ln w="12700">
            <a:solidFill>
              <a:srgbClr val="F1F4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7824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主要リスク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7824" y="1956816"/>
            <a:ext cx="420624" cy="274320"/>
          </a:xfrm>
          <a:prstGeom prst="roundRect">
            <a:avLst>
              <a:gd name="adj" fmla="val 20000"/>
            </a:avLst>
          </a:prstGeom>
          <a:solidFill>
            <a:srgbClr val="B55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956816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08176" y="19019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ニキビ訴求が薬機法に抵触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408176" y="221284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禁止ワード表を社内ルール化。全広告を法務チェック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77824" y="2715768"/>
            <a:ext cx="420624" cy="274320"/>
          </a:xfrm>
          <a:prstGeom prst="roundRect">
            <a:avLst>
              <a:gd name="adj" fmla="val 20000"/>
            </a:avLst>
          </a:prstGeom>
          <a:solidFill>
            <a:srgbClr val="B55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71576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08176" y="266090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原料が高額で原価率30%超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408176" y="29718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P0で即見積もり。超えるなら日焼け訴求を第2弾へ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7824" y="3474720"/>
            <a:ext cx="420624" cy="274320"/>
          </a:xfrm>
          <a:prstGeom prst="roundRect">
            <a:avLst>
              <a:gd name="adj" fmla="val 20000"/>
            </a:avLst>
          </a:prstGeom>
          <a:solidFill>
            <a:srgbClr val="3F6B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47472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08176" y="341985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「飲む日焼け止めは効かない」批判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408176" y="37307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塗る型の代替でなく補完と明記。誠実さを堀にする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7824" y="4233672"/>
            <a:ext cx="420624" cy="274320"/>
          </a:xfrm>
          <a:prstGeom prst="roundRect">
            <a:avLst>
              <a:gd name="adj" fmla="val 20000"/>
            </a:avLst>
          </a:prstGeom>
          <a:solidFill>
            <a:srgbClr val="3F6B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23367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08176" y="417880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実感が遅く2ヶ月以内に解約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408176" y="448970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3ヶ月コースを主力に。期待値を先に握る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77824" y="4992624"/>
            <a:ext cx="420624" cy="274320"/>
          </a:xfrm>
          <a:prstGeom prst="roundRect">
            <a:avLst>
              <a:gd name="adj" fmla="val 20000"/>
            </a:avLst>
          </a:prstGeom>
          <a:solidFill>
            <a:srgbClr val="3F6B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4992624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08176" y="493776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機能性表示食品への不信（紅麹以降）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408176" y="524865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GMP・第三者検査・原産地を全開示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620256" y="128016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BF3EE"/>
          </a:solidFill>
          <a:ln w="12700">
            <a:solidFill>
              <a:srgbClr val="FBF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31152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5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次アクション（P0）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931152" y="2002536"/>
            <a:ext cx="292608" cy="292608"/>
          </a:xfrm>
          <a:prstGeom prst="ellipse">
            <a:avLst/>
          </a:prstGeom>
          <a:solidFill>
            <a:srgbClr val="B55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31152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78624" y="195681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ニュートロックスサン供給元へ単価・最小ロット照会  ← 最優先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931152" y="2660904"/>
            <a:ext cx="292608" cy="292608"/>
          </a:xfrm>
          <a:prstGeom prst="ellipse">
            <a:avLst/>
          </a:prstGeom>
          <a:solidFill>
            <a:srgbClr val="3F6B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31152" y="2660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278624" y="261518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丸善製薬へ BJ抽出物の見積もり依頼（150mg/日）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31152" y="3319272"/>
            <a:ext cx="292608" cy="292608"/>
          </a:xfrm>
          <a:prstGeom prst="ellipse">
            <a:avLst/>
          </a:prstGeom>
          <a:solidFill>
            <a:srgbClr val="3F6B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31152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278624" y="327355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OEM 3社へ小粒2粒設計＋リポソームVC可否を相談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931152" y="3977640"/>
            <a:ext cx="292608" cy="292608"/>
          </a:xfrm>
          <a:prstGeom prst="ellipse">
            <a:avLst/>
          </a:prstGeom>
          <a:solidFill>
            <a:srgbClr val="3F6B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31152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78624" y="393192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機能性表示食品DBで既存届出の表現を実地照合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931152" y="4636008"/>
            <a:ext cx="292608" cy="292608"/>
          </a:xfrm>
          <a:prstGeom prst="ellipse">
            <a:avLst/>
          </a:prstGeom>
          <a:solidFill>
            <a:srgbClr val="3F6B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31152" y="4636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278624" y="459028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名入れ金属缶のサプライヤー探索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931152" y="5294376"/>
            <a:ext cx="292608" cy="292608"/>
          </a:xfrm>
          <a:prstGeom prst="ellipse">
            <a:avLst/>
          </a:prstGeom>
          <a:solidFill>
            <a:srgbClr val="3F6B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31152" y="5294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78624" y="524865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禁止ワード表を確定し、社内・制作会社へ配布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66928" y="598932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机上調査はここが限界。次は「現実」の見積もりで、唯一の未知数を潰す。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114800"/>
            <a:ext cx="4754880" cy="4754880"/>
          </a:xfrm>
          <a:prstGeom prst="ellipse">
            <a:avLst/>
          </a:prstGeom>
          <a:solidFill>
            <a:srgbClr val="3F6B4E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1097280"/>
            <a:ext cx="4023360" cy="4023360"/>
          </a:xfrm>
          <a:prstGeom prst="ellipse">
            <a:avLst/>
          </a:prstGeom>
          <a:solidFill>
            <a:srgbClr val="B5562C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325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66928" y="233172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タンパク質を足さずに、</a:t>
            </a:r>
            <a:endParaRPr lang="en-US" sz="40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食べたものを効かせる。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E91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だから肌も荒れず、老化も加速させない。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プロテイン企業は「量」を売るビジネスモデルであるがゆえに、この引き算にはついてこられない。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Atelier Sage　／　北極星：若さを保つ（見た目＋中身）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SWITCH 商品設計</dc:title>
  <dc:subject>PptxGenJS Presentation</dc:subject>
  <dc:creator>Atelier Sage</dc:creator>
  <cp:lastModifiedBy>Atelier Sage</cp:lastModifiedBy>
  <cp:revision>1</cp:revision>
  <dcterms:created xsi:type="dcterms:W3CDTF">2026-08-01T03:07:42Z</dcterms:created>
  <dcterms:modified xsi:type="dcterms:W3CDTF">2026-08-01T03:07:42Z</dcterms:modified>
</cp:coreProperties>
</file>